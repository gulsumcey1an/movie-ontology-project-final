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164592"/>
            <a:ext cx="164592" cy="45720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784848" y="786384"/>
            <a:ext cx="164592" cy="457200"/>
          </a:xfrm>
          <a:prstGeom prst="rect">
            <a:avLst/>
          </a:prstGeom>
          <a:solidFill>
            <a:srgbClr val="2A4A6B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1408176"/>
            <a:ext cx="164592" cy="45720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84848" y="2029968"/>
            <a:ext cx="164592" cy="457200"/>
          </a:xfrm>
          <a:prstGeom prst="rect">
            <a:avLst/>
          </a:prstGeom>
          <a:solidFill>
            <a:srgbClr val="2A4A6B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2651760"/>
            <a:ext cx="164592" cy="45720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84848" y="3273552"/>
            <a:ext cx="164592" cy="457200"/>
          </a:xfrm>
          <a:prstGeom prst="rect">
            <a:avLst/>
          </a:prstGeom>
          <a:solidFill>
            <a:srgbClr val="2A4A6B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0" y="3895344"/>
            <a:ext cx="164592" cy="457200"/>
          </a:xfrm>
          <a:prstGeom prst="rect">
            <a:avLst/>
          </a:prstGeom>
          <a:solidFill>
            <a:srgbClr val="2C5282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784848" y="4517136"/>
            <a:ext cx="164592" cy="457200"/>
          </a:xfrm>
          <a:prstGeom prst="rect">
            <a:avLst/>
          </a:prstGeom>
          <a:solidFill>
            <a:srgbClr val="2A4A6B"/>
          </a:solidFill>
          <a:ln w="12700">
            <a:solidFill>
              <a:srgbClr val="2C528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52A47"/>
          </a:solidFill>
          <a:ln w="12700">
            <a:solidFill>
              <a:srgbClr val="152A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6459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🎬</a:t>
            </a:r>
            <a:endParaRPr lang="en-US" sz="7200" dirty="0"/>
          </a:p>
        </p:txBody>
      </p:sp>
      <p:sp>
        <p:nvSpPr>
          <p:cNvPr id="13" name="Text 11"/>
          <p:cNvSpPr/>
          <p:nvPr/>
        </p:nvSpPr>
        <p:spPr>
          <a:xfrm>
            <a:off x="548640" y="7315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Movie Knowledge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548640" y="14630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3800" dirty="0"/>
          </a:p>
        </p:txBody>
      </p:sp>
      <p:sp>
        <p:nvSpPr>
          <p:cNvPr id="15" name="Shape 13"/>
          <p:cNvSpPr/>
          <p:nvPr/>
        </p:nvSpPr>
        <p:spPr>
          <a:xfrm>
            <a:off x="548640" y="2304288"/>
            <a:ext cx="384048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423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IMDb-like OWL 2 Ontology &amp; Knowledge Graph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41148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Gülsüm Ceylan (220316065)  ·  Furkan Üstüncan (220316049)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Engineering and Ontologies  ·  Spring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Outline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02336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05840"/>
            <a:ext cx="384048" cy="8046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020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10424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Domain &amp; Motivation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1248" y="140817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movie knowledge graph?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65960"/>
            <a:ext cx="402336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65960"/>
            <a:ext cx="384048" cy="8046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65960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020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" y="20025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Ontology Design (OWL 2)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41248" y="236829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classes · 21 obj. props · 14 data props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402336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926080"/>
            <a:ext cx="384048" cy="8046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926080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020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1248" y="29626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Acquisition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332841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Wikidata SPARQL + LLM population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886200"/>
            <a:ext cx="402336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886200"/>
            <a:ext cx="384048" cy="8046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886200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020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1248" y="39227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 Construction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41248" y="428853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Fuseki deployment · 724 triples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1005840"/>
            <a:ext cx="402336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1005840"/>
            <a:ext cx="384048" cy="8046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1005840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020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230368" y="10424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SPARQL Queries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30368" y="140817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competency questions demonstrated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1965960"/>
            <a:ext cx="402336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1965960"/>
            <a:ext cx="384048" cy="8046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965960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020"/>
                </a:solidFill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230368" y="200253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SHACL Validation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30368" y="236829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shapes · conforms = TRUE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54880" y="2926080"/>
            <a:ext cx="402336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54880" y="2926080"/>
            <a:ext cx="384048" cy="8046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2926080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020"/>
                </a:solidFill>
              </a:rPr>
              <a:t>07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230368" y="296265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Integration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30368" y="332841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Shimizu 2024 modular-prompt pipeline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3886200"/>
            <a:ext cx="4023360" cy="804672"/>
          </a:xfrm>
          <a:prstGeom prst="rect">
            <a:avLst/>
          </a:prstGeom>
          <a:solidFill>
            <a:srgbClr val="F0F4F8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886200"/>
            <a:ext cx="384048" cy="8046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0" y="3886200"/>
            <a:ext cx="38404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020"/>
                </a:solidFill>
              </a:rPr>
              <a:t>08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230368" y="392277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 &amp; Future Work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230368" y="4288536"/>
            <a:ext cx="3474720" cy="329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Domain &amp; Motivation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023360" cy="713232"/>
          </a:xfrm>
          <a:prstGeom prst="rect">
            <a:avLst/>
          </a:prstGeom>
          <a:solidFill>
            <a:srgbClr val="FEF9F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256032" cy="25603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444752"/>
            <a:ext cx="3474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IMDb / TMDb store rich movie data as semi-structured tables — not as semantic graphs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21992"/>
            <a:ext cx="4023360" cy="713232"/>
          </a:xfrm>
          <a:prstGeom prst="rect">
            <a:avLst/>
          </a:prstGeom>
          <a:solidFill>
            <a:srgbClr val="FEF9F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313432"/>
            <a:ext cx="256032" cy="25603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249424"/>
            <a:ext cx="3474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ontological layer → cannot reason across facts or federate queries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026664"/>
            <a:ext cx="4023360" cy="713232"/>
          </a:xfrm>
          <a:prstGeom prst="rect">
            <a:avLst/>
          </a:prstGeom>
          <a:solidFill>
            <a:srgbClr val="FEF9F0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118104"/>
            <a:ext cx="256032" cy="256032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54096"/>
            <a:ext cx="34747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NLP/LLM systems lack grounded structured knowledge for movie Q&amp;A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960120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54880" y="1417320"/>
            <a:ext cx="4023360" cy="694944"/>
          </a:xfrm>
          <a:prstGeom prst="rect">
            <a:avLst/>
          </a:prstGeom>
          <a:solidFill>
            <a:srgbClr val="F0F8F4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417320"/>
            <a:ext cx="73152" cy="69494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4447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OWL 2 Ontology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1737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classes · formal axioms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240280"/>
            <a:ext cx="4023360" cy="694944"/>
          </a:xfrm>
          <a:prstGeom prst="rect">
            <a:avLst/>
          </a:prstGeom>
          <a:solidFill>
            <a:srgbClr val="F0F8F4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240280"/>
            <a:ext cx="73152" cy="69494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26771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SPARQL KG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2560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CQs · Fuseki endpoint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063240"/>
            <a:ext cx="4023360" cy="694944"/>
          </a:xfrm>
          <a:prstGeom prst="rect">
            <a:avLst/>
          </a:prstGeom>
          <a:solidFill>
            <a:srgbClr val="F0F8F4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063240"/>
            <a:ext cx="73152" cy="69494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0906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Population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92040" y="3383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Shimizu 2024 modular prompt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3886200"/>
            <a:ext cx="4023360" cy="694944"/>
          </a:xfrm>
          <a:prstGeom prst="rect">
            <a:avLst/>
          </a:prstGeom>
          <a:solidFill>
            <a:srgbClr val="F0F8F4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54880" y="3886200"/>
            <a:ext cx="73152" cy="694944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91363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SHACL Validation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92040" y="4206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shapes · zero violations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Ontology Design (OWL 2)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55448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3268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057400" y="914400"/>
            <a:ext cx="155448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57400" y="93268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057400" y="15087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Props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49040" y="914400"/>
            <a:ext cx="155448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49040" y="93268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749040" y="15087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Props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40680" y="914400"/>
            <a:ext cx="155448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440680" y="93268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5440680" y="15087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132320" y="914400"/>
            <a:ext cx="1554480" cy="10058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32320" y="93268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132320" y="150876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057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Hierarchy (key branches)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487168"/>
            <a:ext cx="201168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487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AudiovisualWork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944368"/>
            <a:ext cx="1463040" cy="292608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9443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Movie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310128"/>
            <a:ext cx="1463040" cy="292608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31012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TVSeries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675888"/>
            <a:ext cx="1463040" cy="292608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67588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Episode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0" y="2487168"/>
            <a:ext cx="182880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0" y="24871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Person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286000" y="2944368"/>
            <a:ext cx="1188720" cy="292608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0" y="294436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Actor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86000" y="3310128"/>
            <a:ext cx="1188720" cy="292608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0" y="33101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Director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0" y="3675888"/>
            <a:ext cx="1188720" cy="292608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86000" y="367588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Writer / Producer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297680" y="2487168"/>
            <a:ext cx="1371600" cy="29260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297680" y="24871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Other Classes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97680" y="2944368"/>
            <a:ext cx="1280160" cy="292608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0" y="294436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Genre (11)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297680" y="3310128"/>
            <a:ext cx="1280160" cy="292608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97680" y="33101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StreamingPlatform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297680" y="3675888"/>
            <a:ext cx="1280160" cy="292608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297680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Character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943600" y="20574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Decisions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943600" y="242316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⊥ TVSeries (disjointness)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⊥ Director (disjointness)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hasActor domain → AudiovisualWork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playsCharacter → Character class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IDs over owl:sameAs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external alignments (MO, schema.org…)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943600" y="2423160"/>
            <a:ext cx="30175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⊥ TVSeries (disjointness)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⊥ Director (disjointness)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hasActor domain → AudiovisualWork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playsCharacter → Character class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IDs over owl:sameAs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external alignments (MO, schema.org…)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Acquisition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 Pipeline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1554480" cy="13716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3716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7007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List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02996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seed_movies.csv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QIDs + IMDb IDs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20240" y="1691640"/>
            <a:ext cx="164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020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084832" y="1325880"/>
            <a:ext cx="1554480" cy="1371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84832" y="13716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084832" y="17007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Wikidata SPARQL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84832" y="202996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fetch_movies_wikidata.py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→ OWL triples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39312" y="1691640"/>
            <a:ext cx="164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020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803904" y="1325880"/>
            <a:ext cx="1554480" cy="137160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03904" y="13716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803904" y="17007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 Text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03904" y="202996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 overview 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summaries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58384" y="1691640"/>
            <a:ext cx="164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020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522976" y="1325880"/>
            <a:ext cx="1554480" cy="1371600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522976" y="13716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22976" y="17007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Extraction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22976" y="202996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populate_with_llm.py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schema output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077456" y="1691640"/>
            <a:ext cx="164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020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242048" y="1325880"/>
            <a:ext cx="1554480" cy="1371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42048" y="137160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42048" y="170078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SHACL Gate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42048" y="2029968"/>
            <a:ext cx="1554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pySHACL validates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appending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28346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3218688"/>
          <a:ext cx="8412480" cy="173736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4754880"/>
              </a:tblGrid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Wikidata SPARQL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Title, director, cast, genre, dates, IDs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TMDb REST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 summaries, streaming availability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IMDb Datasets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TSV.gz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Ratings (non-commercial use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DBpedia SPARQL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JSON/RDF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Cross-check and backup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Plot text + Claude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text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extraction (3 films)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Graph Construction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RDF Triples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5029200" cy="27432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89888"/>
            <a:ext cx="48006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:Inception  rdf:type  m:Movie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:Inception  m:hasDirector  :ChristopherNolan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:ChristopherNolan  m:fullName  "Christopher Nolan"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:Inception  m:imdbRating  "8.8"^^xsd:float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:Inception  m:availableOn  :Netflix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:ReturnOfTheKing  m:sequelOf  :FellowshipOfTheRing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:LeonardoDiCaprio  m:playsCharacter  :DomCobb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:BreakingBad  m:hasEpisode  :BB_S01E01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0" y="914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Fuseki Deployment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669280" y="1298448"/>
            <a:ext cx="32004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15000" y="1316736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766560" y="131673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Jena Fuseki 5.2.0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1709928"/>
            <a:ext cx="3200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15000" y="1728216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766560" y="172821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/movies/sparql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0" y="2121408"/>
            <a:ext cx="32004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15000" y="2139696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66560" y="213969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69280" y="2532888"/>
            <a:ext cx="3200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15000" y="2551176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766560" y="255117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OWL/XML + Turtle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69280" y="2944368"/>
            <a:ext cx="32004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15000" y="2962656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66560" y="296265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0" y="3355848"/>
            <a:ext cx="32004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0" y="3374136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66560" y="337413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0" y="3767328"/>
            <a:ext cx="3200400" cy="347472"/>
          </a:xfrm>
          <a:prstGeom prst="rect">
            <a:avLst/>
          </a:prstGeom>
          <a:solidFill>
            <a:srgbClr val="F0F4F8"/>
          </a:solidFill>
          <a:ln w="12700">
            <a:solidFill>
              <a:srgbClr val="D6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15000" y="3785616"/>
            <a:ext cx="1005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66560" y="3785616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setup_fuseki.sh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SPARQL Queries &amp; Competency Questions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2651760" cy="13716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3327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Basic Retrieval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41732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CQ1–8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7647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 filmography, actor lists, filter by year/rating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651760" cy="1371600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103327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Relationships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0" y="141732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CQ9–16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00400" y="17647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Traversal, inferred triples, award/country filters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960120"/>
            <a:ext cx="2651760" cy="1371600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035040" y="1033272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 &amp; Sequels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35040" y="141732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CQ17–22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35040" y="176479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availableOn, sequelOf, prequelOf, TVSeries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487168"/>
            <a:ext cx="2651760" cy="1371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256032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" y="29443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CQ23–25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65760" y="3291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rating, COUNT per genre, SUM box office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0" y="2487168"/>
            <a:ext cx="2651760" cy="1371600"/>
          </a:xfrm>
          <a:prstGeom prst="rect">
            <a:avLst/>
          </a:prstGeom>
          <a:solidFill>
            <a:srgbClr val="6C3483"/>
          </a:solidFill>
          <a:ln w="12700">
            <a:solidFill>
              <a:srgbClr val="6C348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0" y="2560320"/>
            <a:ext cx="2651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200400" y="2944368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CQ-Fed1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3200400" y="32918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CE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clause → Wikidata external links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04164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— CQ7: Movies after 2000, rating &gt; 8.5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352544"/>
            <a:ext cx="5029200" cy="713232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38912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?title ?year ?rating WHERE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?f m:title ?title ; m:releaseYear ?year ; m:imdbRating ?rating 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FILTER(?year &gt; 2000 &amp;&amp; ?rating &gt; 8.5)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ORDER BY DESC(?rating)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77840" y="404164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</a:rPr>
              <a:t>Result: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4352544"/>
          <a:ext cx="3291840" cy="731520"/>
        </p:xfrm>
        <a:graphic>
          <a:graphicData uri="http://schemas.openxmlformats.org/drawingml/2006/table">
            <a:tbl>
              <a:tblPr/>
              <a:tblGrid>
                <a:gridCol w="1920240"/>
                <a:gridCol w="731520"/>
                <a:gridCol w="640080"/>
              </a:tblGrid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Dark Knight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38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Inception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SHACL Validation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560320" cy="14630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91440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FFFFFF"/>
                </a:solidFill>
              </a:rPr>
              <a:t>✓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171907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Conforms: TRUE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9933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F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violations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9144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Shapes Defined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0" y="1298448"/>
          <a:ext cx="5577840" cy="1828800"/>
        </p:xfrm>
        <a:graphic>
          <a:graphicData uri="http://schemas.openxmlformats.org/drawingml/2006/table">
            <a:tbl>
              <a:tblPr/>
              <a:tblGrid>
                <a:gridCol w="1645920"/>
                <a:gridCol w="1463040"/>
                <a:gridCol w="2468880"/>
              </a:tblGrid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Constraints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MovieShape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m:Movie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title, releaseYear, hasDirector (min 1), hasGenre (min 1), rating [0–10]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PersonShape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m:Person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fullName (exactly 1), birthDate (max 1, xsd:date)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TVSeriesShape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m:TVSeries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title, releaseYear, optional rating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EpisodeShape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m:Episode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episodeOf (1 TVSeries), episodeNumber, seasonNumber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StreamingPlatformShape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m:StreamingPlatform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rdfs:label (min 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365760" y="25146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Violations Fixed During Development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65760" y="2907792"/>
            <a:ext cx="8412480" cy="822960"/>
          </a:xfrm>
          <a:prstGeom prst="rect">
            <a:avLst/>
          </a:prstGeom>
          <a:solidFill>
            <a:srgbClr val="F0F4F8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5760" y="2907792"/>
            <a:ext cx="73152" cy="8229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0352" y="2944368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Animation, Horror, Romance Genre individuals missing from ABox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30352" y="3273552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Added 3 Genre individuals to OWL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65760" y="3840480"/>
            <a:ext cx="8412480" cy="822960"/>
          </a:xfrm>
          <a:prstGeom prst="rect">
            <a:avLst/>
          </a:prstGeom>
          <a:solidFill>
            <a:srgbClr val="F0F4F8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65760" y="3840480"/>
            <a:ext cx="73152" cy="8229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0352" y="3877056"/>
            <a:ext cx="8138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Issue: hasActor / hasDirector domain = m:Movie (too narrow)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30352" y="4206240"/>
            <a:ext cx="8138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Domain widened to m:AudiovisualWork in v2.1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Integration (Shimizu et al. 2024)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Prompt Pipeline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1280160" cy="713232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3350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020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Text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645920" y="150876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020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783080" y="1298448"/>
            <a:ext cx="1280160" cy="7132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783080" y="13350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020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83080" y="1600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Fragment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63240" y="150876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020"/>
                </a:solidFill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0" y="1298448"/>
            <a:ext cx="1280160" cy="71323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13350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020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00400" y="1600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0560" y="150876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020"/>
                </a:solidFill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17720" y="1298448"/>
            <a:ext cx="1280160" cy="71323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17720" y="13350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020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617720" y="1600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897880" y="150876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020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35040" y="1298448"/>
            <a:ext cx="1280160" cy="713232"/>
          </a:xfrm>
          <a:prstGeom prst="rect">
            <a:avLst/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035040" y="13350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020"/>
                </a:solidFill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035040" y="1600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OWL Serialize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0" y="1508760"/>
            <a:ext cx="137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A020"/>
                </a:solidFill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52360" y="1298448"/>
            <a:ext cx="1280160" cy="7132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452360" y="13350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020"/>
                </a:solidFill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452360" y="160020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SHACL Gate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21945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Hallucination Mitigation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2578608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prompt exposes ONLY allowed predicates — no free-form property generation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Genre values restricted to enumerated allowlist (11 genres)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SHACL validation at ingestion rejects any non-conforming record before appending to OWL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54880" y="21945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Results (3 Films Populated)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578608"/>
          <a:ext cx="4023360" cy="128016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822960"/>
                <a:gridCol w="10972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Title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GoodFellas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Crime, Drama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Matrix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SciFi,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Toy Story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Animation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" name="Text 30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Shimizu, C. et al. (2024). Ontology Population using LLMs. arXiv:2411.01612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&amp; Discussion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Metrics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502920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98448"/>
            <a:ext cx="73152" cy="5669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33502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OWL Consistency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1591056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HermiT — no unsatisfiable classes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956816"/>
            <a:ext cx="502920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56816"/>
            <a:ext cx="73152" cy="5669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99339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SHACL Validation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2249424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Conforms: TRUE — 0 violations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15184"/>
            <a:ext cx="502920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615184"/>
            <a:ext cx="73152" cy="5669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65176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CQ Coverage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0352" y="2907792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25 / 25 CQs return non-empty results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502920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273552"/>
            <a:ext cx="73152" cy="5669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31012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Precision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0352" y="3566160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0 hallucinated predicates in demo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931920"/>
            <a:ext cx="5029200" cy="566928"/>
          </a:xfrm>
          <a:prstGeom prst="rect">
            <a:avLst/>
          </a:prstGeom>
          <a:solidFill>
            <a:srgbClr val="F0F4F8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931920"/>
            <a:ext cx="73152" cy="5669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3968496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Alignments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" y="4224528"/>
            <a:ext cx="4754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ontologies (MO, schema.org, DBpedia, WD, FOAF)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0" y="914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669280" y="1298448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ABox (51 individuals, 9 films) — results not yet scalable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⊥ Director prevents dual-role modelling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pipeline requires API key (token cost at scale)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Wikidata endpoint rate limits interrupt batch runs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669280" y="3246120"/>
            <a:ext cx="3200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NL-to-SPARQL via Allemang &amp; Sequeda (2024)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GRU-RNN viewer profiling module (Fernandez 2023)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population from IMDb dataset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11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Demonstration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Flow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325880"/>
            <a:ext cx="841248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325880"/>
            <a:ext cx="457200" cy="6217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25880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020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136245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Ontology in Protégé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6184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class hierarchy, object/data properties, DL reasoner (HermiT) — no inconsistencies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029968"/>
            <a:ext cx="841248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029968"/>
            <a:ext cx="457200" cy="6217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029968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020"/>
                </a:solidFill>
              </a:rPr>
              <a:t>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206654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SHACL Validation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322576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pyshacl -s shapes/movie-shapes.ttl -i none movie-ontology.owl → Conforms: True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734056"/>
            <a:ext cx="841248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734056"/>
            <a:ext cx="457200" cy="621792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34056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020"/>
                </a:solidFill>
              </a:rPr>
              <a:t>C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4400" y="277063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via Fuseki SPARQL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4400" y="3026664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CQ7 (rating &gt; 8.5 after 2000) and CQ15 (AVG rating) — show result table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438144"/>
            <a:ext cx="841248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438144"/>
            <a:ext cx="457200" cy="62179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38144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020"/>
                </a:solidFill>
              </a:rPr>
              <a:t>D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347472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Population Demo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373075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populate_with_llm.py --demo — show JSON output → OWL append → SHACL pass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142232"/>
            <a:ext cx="8412480" cy="621792"/>
          </a:xfrm>
          <a:prstGeom prst="rect">
            <a:avLst/>
          </a:prstGeom>
          <a:solidFill>
            <a:srgbClr val="F0F4F8"/>
          </a:solidFill>
          <a:ln w="12700">
            <a:solidFill>
              <a:srgbClr val="D6E4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4142232"/>
            <a:ext cx="457200" cy="621792"/>
          </a:xfrm>
          <a:prstGeom prst="rect">
            <a:avLst/>
          </a:prstGeom>
          <a:solidFill>
            <a:srgbClr val="5D6D7E"/>
          </a:solidFill>
          <a:ln w="12700">
            <a:solidFill>
              <a:srgbClr val="5D6D7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142232"/>
            <a:ext cx="457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A020"/>
                </a:solidFill>
              </a:rPr>
              <a:t>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14400" y="417880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WIDOCO Documentation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4400" y="44348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widoco-docs/index-en.html — browse classes, properties, individuals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95360" y="484632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8C8D"/>
                </a:solidFill>
              </a:rPr>
              <a:t>12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&amp; Deliverables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Structure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4114800" cy="3200400"/>
          </a:xfrm>
          <a:prstGeom prst="rect">
            <a:avLst/>
          </a:prstGeom>
          <a:solidFill>
            <a:srgbClr val="1E1E2E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89888"/>
            <a:ext cx="39319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movie-ontology.owl      ← OWL 2 RDF/XML (v2.1)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movie-ontology.ttl      ← Turtle (724 triples)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shapes/movie-shapes.ttl ← 5 SHACL shapes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queries/example-queries.sparql ← 25 CQs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scripts/populate_with_llm.py   ← LLM pipeline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scripts/fetch_movies_wikidata.py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scripts/setup_fuseki.sh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data/validation-report.txt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data/llm_population_output.json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widoco-docs/index-en.html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Submission Links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325880"/>
            <a:ext cx="4114800" cy="107899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138988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GitHub Repository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79222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github.com/GulsumCey1an/movie-ontology-project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560320"/>
            <a:ext cx="4114800" cy="1078992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262432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📖 WIDOCO Documentation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302666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GulsumCey1an.github.io/movie-ontology-project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794760"/>
            <a:ext cx="4114800" cy="1078992"/>
          </a:xfrm>
          <a:prstGeom prst="rect">
            <a:avLst/>
          </a:prstGeom>
          <a:solidFill>
            <a:srgbClr val="34495E"/>
          </a:solidFill>
          <a:ln w="12700">
            <a:solidFill>
              <a:srgbClr val="3449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0" y="3858768"/>
            <a:ext cx="3931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SPARQL Endpoint (local)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426110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0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localhost:3030/movies/sparql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1148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57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Gülsüm Ceylan (220316065)  ·  Furkan Üstüncan (220316049)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Engineering and Ontologies  ·  Spring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1554480" cy="960120"/>
          </a:xfrm>
          <a:prstGeom prst="rect">
            <a:avLst/>
          </a:prstGeom>
          <a:solidFill>
            <a:srgbClr val="15304F"/>
          </a:solidFill>
          <a:ln w="12700">
            <a:solidFill>
              <a:srgbClr val="2C52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962656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40080" y="349300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1720" y="2926080"/>
            <a:ext cx="1554480" cy="960120"/>
          </a:xfrm>
          <a:prstGeom prst="rect">
            <a:avLst/>
          </a:prstGeom>
          <a:solidFill>
            <a:srgbClr val="15304F"/>
          </a:solidFill>
          <a:ln w="12700">
            <a:solidFill>
              <a:srgbClr val="2C52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31720" y="2962656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331720" y="349300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023360" y="2926080"/>
            <a:ext cx="1554480" cy="960120"/>
          </a:xfrm>
          <a:prstGeom prst="rect">
            <a:avLst/>
          </a:prstGeom>
          <a:solidFill>
            <a:srgbClr val="15304F"/>
          </a:solidFill>
          <a:ln w="12700">
            <a:solidFill>
              <a:srgbClr val="2C52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023360" y="2962656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023360" y="349300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CQs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15000" y="2926080"/>
            <a:ext cx="1554480" cy="960120"/>
          </a:xfrm>
          <a:prstGeom prst="rect">
            <a:avLst/>
          </a:prstGeom>
          <a:solidFill>
            <a:srgbClr val="15304F"/>
          </a:solidFill>
          <a:ln w="12700">
            <a:solidFill>
              <a:srgbClr val="2C52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715000" y="2962656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715000" y="349300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SHACL Shapes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06640" y="2926080"/>
            <a:ext cx="1554480" cy="960120"/>
          </a:xfrm>
          <a:prstGeom prst="rect">
            <a:avLst/>
          </a:prstGeom>
          <a:solidFill>
            <a:srgbClr val="15304F"/>
          </a:solidFill>
          <a:ln w="12700">
            <a:solidFill>
              <a:srgbClr val="2C528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06640" y="2962656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406640" y="349300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160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E8A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52A47"/>
          </a:solidFill>
          <a:ln w="12700">
            <a:solidFill>
              <a:srgbClr val="152A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1645920"/>
            <a:ext cx="2743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🎬</a:t>
            </a:r>
            <a:endParaRPr lang="en-US" sz="7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Movie Knowledge Graph — Presentation</dc:title>
  <dc:subject>PptxGenJS Presentation</dc:subject>
  <dc:creator>Gülsüm Ceylan &amp; Furkan Üstüncan</dc:creator>
  <cp:lastModifiedBy>Gülsüm Ceylan &amp; Furkan Üstüncan</cp:lastModifiedBy>
  <cp:revision>1</cp:revision>
  <dcterms:created xsi:type="dcterms:W3CDTF">2026-06-06T18:11:02Z</dcterms:created>
  <dcterms:modified xsi:type="dcterms:W3CDTF">2026-06-06T18:11:02Z</dcterms:modified>
</cp:coreProperties>
</file>